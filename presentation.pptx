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C75B046-8CD5-4578-AB7D-1AF66A86A5E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1C89F1F-A9BA-42B4-99E5-373E8D5A02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DF8B77-7A40-4AB3-BA63-7C292AB3ED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DAE327-E8D9-4B2F-9CFE-F46DEFD36E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1A61017-0177-40E6-9009-8BECCE37E0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E92B6C-6747-4B28-977A-8A981B4C41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3F72345-1B06-4E36-940D-33EA8E5F5F9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73BC259-0F9E-4801-BB5A-C602CFF7DF6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8C88DA-6218-43B2-903F-EEDBA696DD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1B49B9-DCE4-40C9-8B61-3FB826E7A4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9B4C2B7-CE0B-4893-975E-4FFB023CA7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1"/>
          <p:cNvSpPr/>
          <p:nvPr/>
        </p:nvSpPr>
        <p:spPr>
          <a:xfrm>
            <a:off x="1343520" y="2436840"/>
            <a:ext cx="990324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Job Market Intelligence &amp; Career Advisor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562040" y="4229280"/>
            <a:ext cx="654660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Data Science &amp; Machine Learning  -  Ironhack Final Project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1562040" y="404640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endParaRPr lang="en-US" sz="1100" b="0" u="none" strike="noStrike">
              <a:solidFill>
                <a:srgbClr val="888899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What is this project?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3"/>
          <p:cNvSpPr/>
          <p:nvPr/>
        </p:nvSpPr>
        <p:spPr>
          <a:xfrm>
            <a:off x="1625760" y="2334600"/>
            <a:ext cx="8280000" cy="239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A Streamlit dashboard for exploring the job market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Combines real salary data with AI-powered insights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4 interactive tabs — explore, predict, chat, and search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Data source: Data Science Job Salaries (Hugging Face → 607 rows)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Live job search across 7 global regions via Tavily API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🔹 AI Career Coach powered by DeepSeek + RAG (LangChain + ChromaDB)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 Interactive Tabs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1371600" y="1430280"/>
            <a:ext cx="7702200" cy="52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1 - Market Explorer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Charts &amp; metrics — salary by experience, company size, DS/ML field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Toggle between "All Data Jobs" and "DS / ML / DL Only"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2 - Salary Predictor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Select role + experience + location → instant salary estimate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3 - AI Career Coach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Chat with DeepSeek RAG — answers backed by real data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4 - Live Job Finder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Tavily searches 7 regions for DS/ML/DL &amp; Aerospace jobs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Filter by field type &amp; geographic region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Market Explorer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3"/>
          <p:cNvSpPr/>
          <p:nvPr/>
        </p:nvSpPr>
        <p:spPr>
          <a:xfrm>
            <a:off x="1149480" y="1371600"/>
            <a:ext cx="8362440" cy="52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Interactive Plotly charts embedded in Streamlit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Radio toggle: "All Data Jobs" vs "DS / ML / DL Only"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Filter by experience level with a dropdown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4 KPI cards: Median Salary, Mean Salary, Unique Roles, Countries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Charts include: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Salary by Experience Level (horizontal bar)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Salary by Company Size (bar)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Salary by DS/ML Field (in DS/ML mode)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Top 15 Job Titles (bar)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Salary Predictor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9" name="TextBox 3"/>
          <p:cNvSpPr/>
          <p:nvPr/>
        </p:nvSpPr>
        <p:spPr>
          <a:xfrm>
            <a:off x="1187280" y="1616760"/>
            <a:ext cx="8604000" cy="44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Uses the DS/ML/DL dataset for richer predictions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3 dropdowns: Job Role → Experience Level → Location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Click "Predict Salary" → shows median salary for that exact combination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Falls back to overall median if no exact match exists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ML pipeline behind the scenes: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Regression models: Linear, Random Forest, XGBoost, LightGBM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Trained in notebook 02_ml_modeling.ipynb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AI Career Coach (RAG)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3"/>
          <p:cNvSpPr/>
          <p:nvPr/>
        </p:nvSpPr>
        <p:spPr>
          <a:xfrm>
            <a:off x="1371600" y="1492200"/>
            <a:ext cx="8864280" cy="44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Chat interface powered by DeepSeek (OpenAI-compatible)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Retrieval-Augmented Generation (RAG) pipeline: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Documents built from salary data rows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Embeddings: sentence-transformers/all-MiniLM-L6-v2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Vector store: ChromaDB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→ LLM: DeepSeek Chat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Answers career questions backed by real market data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Built in notebook 03_rag_build.ipynb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1"/>
          <p:cNvSpPr/>
          <p:nvPr/>
        </p:nvSpPr>
        <p:spPr>
          <a:xfrm>
            <a:off x="851040" y="18288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Live Job Finder — 7 Regions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2"/>
          <p:cNvSpPr/>
          <p:nvPr/>
        </p:nvSpPr>
        <p:spPr>
          <a:xfrm>
            <a:off x="914400" y="91188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1352520" y="2174400"/>
            <a:ext cx="8260920" cy="32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Searches the web in real-time via Tavily API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6 geographic regions + 1 field category: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Europe  |  Middle East  |  China  |  Russia  |  South America  |  East Asia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🛩️ Aerospace — aircraft structural designer, airframe, composites, maintenance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Two filter dropdowns:  Field (DS/ML/DL or Aerospace) + Region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Stacked bar chart: shows DS/ML/DL vs Aerospace split per region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Browse results in expandable cards with direct links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• Export all jobs as CSV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4"/>
          <p:cNvSpPr/>
          <p:nvPr/>
        </p:nvSpPr>
        <p:spPr>
          <a:xfrm>
            <a:off x="92952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1"/>
          <p:cNvSpPr/>
          <p:nvPr/>
        </p:nvSpPr>
        <p:spPr>
          <a:xfrm>
            <a:off x="914400" y="457200"/>
            <a:ext cx="1033236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 Stack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2"/>
          <p:cNvSpPr/>
          <p:nvPr/>
        </p:nvSpPr>
        <p:spPr>
          <a:xfrm>
            <a:off x="914400" y="1280160"/>
            <a:ext cx="1828440" cy="27000"/>
          </a:xfrm>
          <a:prstGeom prst="rect">
            <a:avLst/>
          </a:prstGeom>
          <a:solidFill>
            <a:srgbClr val="0096D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7640" rIns="90000" bIns="-1764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3"/>
          <p:cNvSpPr/>
          <p:nvPr/>
        </p:nvSpPr>
        <p:spPr>
          <a:xfrm>
            <a:off x="1352520" y="2020320"/>
            <a:ext cx="7810200" cy="320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Data &amp; EDA       Pandas, NumPy, Matplotlib, Seaborn, Plotly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Machine Learning  Scikit-learn (Linear, Random Forest), XGBoost, LightGBM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Gen AI / RAG      DeepSeek (OpenAI-compatible), LangChain, ChromaDB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             HuggingFace embeddings (all-MiniLM-L6-v2)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App               Streamlit — 4-tab dashboard, @st.cache_data, Plotly charts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Live Search       Tavily API — 7 regions, real-time web scraping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Datasets          Hugging Face (no Kaggle account needed)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800" b="0" u="none" strike="noStrike">
                <a:solidFill>
                  <a:srgbClr val="F0F0F5"/>
                </a:solidFill>
                <a:effectLst/>
                <a:uFillTx/>
                <a:latin typeface="Calibri"/>
              </a:rPr>
              <a:t>                   ds_salaries.csv — 607 rows, 12 columns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888899"/>
                </a:solidFill>
                <a:effectLst/>
                <a:uFillTx/>
                <a:latin typeface="Calibri"/>
              </a:rPr>
              <a:t>Job Market Intelligence  |  Ironhack Final Project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Box 1"/>
          <p:cNvSpPr/>
          <p:nvPr/>
        </p:nvSpPr>
        <p:spPr>
          <a:xfrm>
            <a:off x="171360" y="2797560"/>
            <a:ext cx="276840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9600" b="1" u="none" strike="noStrike">
                <a:solidFill>
                  <a:srgbClr val="FFFFFF"/>
                </a:solidFill>
                <a:effectLst/>
                <a:uFillTx/>
                <a:latin typeface="Wingdings"/>
              </a:rPr>
              <a:t></a:t>
            </a:r>
            <a:endParaRPr lang="en-US" sz="9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914400" y="630936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 anchorCtr="1">
            <a:spAutoFit/>
          </a:bodyPr>
          <a:p>
            <a:endParaRPr lang="en-US" sz="1100" b="0" u="none" strike="noStrike">
              <a:solidFill>
                <a:srgbClr val="888899"/>
              </a:solidFill>
              <a:effectLst/>
              <a:uFillTx/>
              <a:latin typeface="Calibri"/>
            </a:endParaRPr>
          </a:p>
        </p:txBody>
      </p:sp>
      <p:pic>
        <p:nvPicPr>
          <p:cNvPr id="95" name="Picture 6"/>
          <p:cNvPicPr/>
          <p:nvPr/>
        </p:nvPicPr>
        <p:blipFill>
          <a:blip r:embed="rId1"/>
          <a:stretch/>
        </p:blipFill>
        <p:spPr>
          <a:xfrm>
            <a:off x="3048120" y="0"/>
            <a:ext cx="914364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</TotalTime>
  <Application>LibreOffice/26.2.5.2$Linux_X86_64 LibreOffice_project/620$Build-2</Application>
  <AppVersion>15.0000</AppVersion>
  <Words>679</Words>
  <Paragraphs>88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2026-08-11T04:41:22Z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