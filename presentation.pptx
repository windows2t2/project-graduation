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43660" y="2436704"/>
            <a:ext cx="99034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 dirty="0"/>
              <a:t>Job Market Intelligence</a:t>
            </a:r>
            <a:r>
              <a:rPr lang="en-US" dirty="0"/>
              <a:t> </a:t>
            </a:r>
            <a:r>
              <a:rPr dirty="0"/>
              <a:t>&amp; Career Advisor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62100" y="4229100"/>
            <a:ext cx="65468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888899"/>
                </a:solidFill>
              </a:defRPr>
            </a:pPr>
            <a:r>
              <a:rPr dirty="0"/>
              <a:t>Data Science &amp; Machine Learning  </a:t>
            </a:r>
            <a:r>
              <a:rPr lang="en-US" dirty="0"/>
              <a:t>-</a:t>
            </a:r>
            <a:r>
              <a:rPr dirty="0"/>
              <a:t>  </a:t>
            </a:r>
            <a:r>
              <a:rPr dirty="0" err="1"/>
              <a:t>Ironhack</a:t>
            </a:r>
            <a:r>
              <a:rPr dirty="0"/>
              <a:t> Final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1562100" y="4046220"/>
            <a:ext cx="1828800" cy="2743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630936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88899"/>
                </a:solidFill>
              </a:defRPr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32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What is this project?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828800" cy="2743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25600" y="2334468"/>
            <a:ext cx="8280400" cy="23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r>
              <a:rPr dirty="0"/>
              <a:t>🔹 A </a:t>
            </a:r>
            <a:r>
              <a:rPr dirty="0" err="1"/>
              <a:t>Streamlit</a:t>
            </a:r>
            <a:r>
              <a:rPr dirty="0"/>
              <a:t> dashboard for exploring the job market</a:t>
            </a:r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r>
              <a:rPr dirty="0"/>
              <a:t>🔹 Combines real salary data with AI-powered insights</a:t>
            </a:r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r>
              <a:rPr dirty="0"/>
              <a:t>🔹 4 interactive tabs — explore, predict, chat, and search</a:t>
            </a:r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r>
              <a:rPr dirty="0"/>
              <a:t>🔹 Data source: Data Science Job Salaries (Hugging Face → 607 rows)</a:t>
            </a:r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r>
              <a:rPr dirty="0"/>
              <a:t>🔹 Live job search across 7 global regions via </a:t>
            </a:r>
            <a:r>
              <a:rPr dirty="0" err="1"/>
              <a:t>Tavily</a:t>
            </a:r>
            <a:r>
              <a:rPr dirty="0"/>
              <a:t> API</a:t>
            </a:r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r>
              <a:rPr dirty="0"/>
              <a:t>🔹 AI Career Coach powered by DeepSeek + RAG (</a:t>
            </a:r>
            <a:r>
              <a:rPr dirty="0" err="1"/>
              <a:t>LangChain</a:t>
            </a:r>
            <a:r>
              <a:rPr dirty="0"/>
              <a:t> + </a:t>
            </a:r>
            <a:r>
              <a:rPr dirty="0" err="1"/>
              <a:t>ChromaDB</a:t>
            </a:r>
            <a:r>
              <a:rPr dirty="0"/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30936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88899"/>
                </a:solidFill>
              </a:defRPr>
            </a:pPr>
            <a:r>
              <a:t>Job Market Intelligence  |  Ironhack Final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32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4 Interactive Tabs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828800" cy="2743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430218"/>
            <a:ext cx="7702550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r>
              <a:rPr lang="en-US" dirty="0"/>
              <a:t>1 - </a:t>
            </a:r>
            <a:r>
              <a:rPr dirty="0"/>
              <a:t>Market Explorer</a:t>
            </a:r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r>
              <a:rPr dirty="0"/>
              <a:t>      Charts &amp; metrics — salary by experience, company size, DS/ML field</a:t>
            </a:r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r>
              <a:rPr dirty="0"/>
              <a:t>      Toggle between "All Data Jobs" and "DS / ML / DL Only"</a:t>
            </a:r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endParaRPr dirty="0"/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r>
              <a:rPr lang="en-US" dirty="0"/>
              <a:t>2 - </a:t>
            </a:r>
            <a:r>
              <a:rPr dirty="0"/>
              <a:t>Salary Predictor</a:t>
            </a:r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r>
              <a:rPr dirty="0"/>
              <a:t>      Select role + experience + location → instant salary estimate</a:t>
            </a:r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endParaRPr dirty="0"/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r>
              <a:rPr lang="en-US" dirty="0"/>
              <a:t>3 - </a:t>
            </a:r>
            <a:r>
              <a:rPr dirty="0"/>
              <a:t>AI Career Coach</a:t>
            </a:r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r>
              <a:rPr dirty="0"/>
              <a:t>      Chat with DeepSeek RAG — answers backed by real data</a:t>
            </a:r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endParaRPr dirty="0"/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r>
              <a:rPr lang="en-US" dirty="0"/>
              <a:t>4 - </a:t>
            </a:r>
            <a:r>
              <a:rPr dirty="0"/>
              <a:t>Live Job Finder</a:t>
            </a:r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r>
              <a:rPr dirty="0"/>
              <a:t>      </a:t>
            </a:r>
            <a:r>
              <a:rPr dirty="0" err="1"/>
              <a:t>Tavily</a:t>
            </a:r>
            <a:r>
              <a:rPr dirty="0"/>
              <a:t> searches 7 regions for DS/ML/DL &amp; Aerospace jobs</a:t>
            </a:r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r>
              <a:rPr dirty="0"/>
              <a:t>      Filter by field type &amp; geographic region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30936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88899"/>
                </a:solidFill>
              </a:defRPr>
            </a:pPr>
            <a:r>
              <a:t>Job Market Intelligence  |  Ironhack Final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32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Market Explorer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828800" cy="2743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9350" y="1371600"/>
            <a:ext cx="8362950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r>
              <a:rPr dirty="0"/>
              <a:t>• Interactive </a:t>
            </a:r>
            <a:r>
              <a:rPr dirty="0" err="1"/>
              <a:t>Plotly</a:t>
            </a:r>
            <a:r>
              <a:rPr dirty="0"/>
              <a:t> charts embedded in </a:t>
            </a:r>
            <a:r>
              <a:rPr dirty="0" err="1"/>
              <a:t>Streamlit</a:t>
            </a:r>
            <a:endParaRPr dirty="0"/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endParaRPr dirty="0"/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r>
              <a:rPr dirty="0"/>
              <a:t>• Radio toggle: "All Data Jobs" vs "DS / ML / DL Only"</a:t>
            </a:r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endParaRPr dirty="0"/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r>
              <a:rPr dirty="0"/>
              <a:t>• Filter by experience level with a dropdown</a:t>
            </a:r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endParaRPr dirty="0"/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r>
              <a:rPr dirty="0"/>
              <a:t>• 4 KPI cards: Median Salary, Mean Salary, Unique Roles, Countries</a:t>
            </a:r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endParaRPr dirty="0"/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r>
              <a:rPr dirty="0"/>
              <a:t>• Charts include:</a:t>
            </a:r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r>
              <a:rPr dirty="0"/>
              <a:t>   → Salary by Experience Level (horizontal bar)</a:t>
            </a:r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r>
              <a:rPr dirty="0"/>
              <a:t>   → Salary by Company Size (bar)</a:t>
            </a:r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r>
              <a:rPr dirty="0"/>
              <a:t>   → Salary by DS/ML Field (in DS/ML mode)</a:t>
            </a:r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r>
              <a:rPr dirty="0"/>
              <a:t>   → Top 15 Job Titles (bar)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30936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88899"/>
                </a:solidFill>
              </a:defRPr>
            </a:pPr>
            <a:r>
              <a:t>Job Market Intelligence  |  Ironhack Final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32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Salary Predictor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828800" cy="2743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7450" y="1616918"/>
            <a:ext cx="8604250" cy="4421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r>
              <a:rPr dirty="0"/>
              <a:t>• Uses the DS/ML/DL dataset for richer predictions</a:t>
            </a:r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endParaRPr dirty="0"/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r>
              <a:rPr dirty="0"/>
              <a:t>• 3 dropdowns: Job Role → Experience Level → Location</a:t>
            </a:r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endParaRPr dirty="0"/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r>
              <a:rPr dirty="0"/>
              <a:t>• Click "Predict Salary" → shows median salary for that exact combination</a:t>
            </a:r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endParaRPr dirty="0"/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r>
              <a:rPr dirty="0"/>
              <a:t>• Falls back to overall median if no exact match exists</a:t>
            </a:r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endParaRPr dirty="0"/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r>
              <a:rPr dirty="0"/>
              <a:t>• ML pipeline behind the scenes:</a:t>
            </a:r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r>
              <a:rPr dirty="0"/>
              <a:t>   → Regression models: Linear, Random Forest, </a:t>
            </a:r>
            <a:r>
              <a:rPr dirty="0" err="1"/>
              <a:t>XGBoost</a:t>
            </a:r>
            <a:r>
              <a:rPr dirty="0"/>
              <a:t>, </a:t>
            </a:r>
            <a:r>
              <a:rPr dirty="0" err="1"/>
              <a:t>LightGBM</a:t>
            </a:r>
            <a:endParaRPr dirty="0"/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r>
              <a:rPr dirty="0"/>
              <a:t>   → Trained in notebook 02_ml_modeling.ipynb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30936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88899"/>
                </a:solidFill>
              </a:defRPr>
            </a:pPr>
            <a:r>
              <a:t>Job Market Intelligence  |  Ironhack Final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32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AI Career Coach (RAG)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828800" cy="2743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492250"/>
            <a:ext cx="8864600" cy="4421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r>
              <a:rPr dirty="0"/>
              <a:t>• Chat interface powered by DeepSeek (OpenAI-compatible)</a:t>
            </a:r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endParaRPr dirty="0"/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r>
              <a:rPr dirty="0"/>
              <a:t>• Retrieval-Augmented Generation (RAG) pipeline:</a:t>
            </a:r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r>
              <a:rPr dirty="0"/>
              <a:t>   → Documents built from salary data rows</a:t>
            </a:r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r>
              <a:rPr dirty="0"/>
              <a:t>   → Embeddings: sentence-transformers/all-MiniLM-L6-v2</a:t>
            </a:r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r>
              <a:rPr dirty="0"/>
              <a:t>   → Vector store: </a:t>
            </a:r>
            <a:r>
              <a:rPr dirty="0" err="1"/>
              <a:t>ChromaDB</a:t>
            </a:r>
            <a:endParaRPr dirty="0"/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r>
              <a:rPr dirty="0"/>
              <a:t>   → LLM: DeepSeek Chat</a:t>
            </a:r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endParaRPr dirty="0"/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r>
              <a:rPr dirty="0"/>
              <a:t>• Answers career questions backed by real market data</a:t>
            </a:r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endParaRPr dirty="0"/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r>
              <a:rPr dirty="0"/>
              <a:t>• Built in notebook 03_rag_build.ipynb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30936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88899"/>
                </a:solidFill>
              </a:defRPr>
            </a:pPr>
            <a:r>
              <a:t>Job Market Intelligence  |  Ironhack Final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0900" y="182880"/>
            <a:ext cx="10332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Live Job Finder — 7 Regions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1860"/>
            <a:ext cx="1828800" cy="2743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52550" y="2174329"/>
            <a:ext cx="8261350" cy="3206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r>
              <a:rPr dirty="0"/>
              <a:t>• Searches the web in real-time via </a:t>
            </a:r>
            <a:r>
              <a:rPr dirty="0" err="1"/>
              <a:t>Tavily</a:t>
            </a:r>
            <a:r>
              <a:rPr dirty="0"/>
              <a:t> API</a:t>
            </a:r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r>
              <a:rPr dirty="0"/>
              <a:t>• 6 geographic regions + 1 field category:</a:t>
            </a:r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r>
              <a:rPr dirty="0"/>
              <a:t>   Europe  |  Middle East  |  China  |  Russia  |  South America  |  East Asia</a:t>
            </a:r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r>
              <a:rPr dirty="0"/>
              <a:t>• 🛩️ Aerospace — aircraft structural designer, airframe, composites, maintenance</a:t>
            </a:r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r>
              <a:rPr dirty="0"/>
              <a:t>• Two filter dropdowns:  Field (DS/ML/DL or Aerospace) + Region</a:t>
            </a:r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r>
              <a:rPr dirty="0"/>
              <a:t>• Stacked bar chart: shows DS/ML/DL vs Aerospace split per region</a:t>
            </a:r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r>
              <a:rPr dirty="0"/>
              <a:t>• Browse results in expandable cards with direct links</a:t>
            </a:r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r>
              <a:rPr dirty="0"/>
              <a:t>• Export all jobs as 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9640" y="630936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88899"/>
                </a:solidFill>
              </a:defRPr>
            </a:pPr>
            <a:r>
              <a:rPr dirty="0"/>
              <a:t>Job Market Intelligence  |  </a:t>
            </a:r>
            <a:r>
              <a:rPr dirty="0" err="1"/>
              <a:t>Ironhack</a:t>
            </a:r>
            <a:r>
              <a:rPr dirty="0"/>
              <a:t> Final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32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Tech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828800" cy="2743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52550" y="2020462"/>
            <a:ext cx="7810500" cy="3206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r>
              <a:rPr dirty="0"/>
              <a:t>Data &amp; EDA       Pandas, NumPy, Matplotlib, Seaborn, </a:t>
            </a:r>
            <a:r>
              <a:rPr dirty="0" err="1"/>
              <a:t>Plotly</a:t>
            </a:r>
            <a:endParaRPr dirty="0"/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r>
              <a:rPr dirty="0"/>
              <a:t>Machine Learning  Scikit-learn (Linear, Random Forest), </a:t>
            </a:r>
            <a:r>
              <a:rPr dirty="0" err="1"/>
              <a:t>XGBoost</a:t>
            </a:r>
            <a:r>
              <a:rPr dirty="0"/>
              <a:t>, </a:t>
            </a:r>
            <a:r>
              <a:rPr dirty="0" err="1"/>
              <a:t>LightGBM</a:t>
            </a:r>
            <a:endParaRPr dirty="0"/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r>
              <a:rPr dirty="0"/>
              <a:t>Gen AI / RAG      DeepSeek (OpenAI-compatible), </a:t>
            </a:r>
            <a:r>
              <a:rPr dirty="0" err="1"/>
              <a:t>LangChain</a:t>
            </a:r>
            <a:r>
              <a:rPr dirty="0"/>
              <a:t>, </a:t>
            </a:r>
            <a:r>
              <a:rPr dirty="0" err="1"/>
              <a:t>ChromaDB</a:t>
            </a:r>
            <a:endParaRPr dirty="0"/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r>
              <a:rPr dirty="0"/>
              <a:t>                   </a:t>
            </a:r>
            <a:r>
              <a:rPr dirty="0" err="1"/>
              <a:t>HuggingFace</a:t>
            </a:r>
            <a:r>
              <a:rPr dirty="0"/>
              <a:t> embeddings (all-MiniLM-L6-v2)</a:t>
            </a:r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r>
              <a:rPr dirty="0"/>
              <a:t>App               </a:t>
            </a:r>
            <a:r>
              <a:rPr dirty="0" err="1"/>
              <a:t>Streamlit</a:t>
            </a:r>
            <a:r>
              <a:rPr dirty="0"/>
              <a:t> — 4-tab dashboard, @st.cache_data, </a:t>
            </a:r>
            <a:r>
              <a:rPr dirty="0" err="1"/>
              <a:t>Plotly</a:t>
            </a:r>
            <a:r>
              <a:rPr dirty="0"/>
              <a:t> charts</a:t>
            </a:r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r>
              <a:rPr dirty="0"/>
              <a:t>Live Search       </a:t>
            </a:r>
            <a:r>
              <a:rPr dirty="0" err="1"/>
              <a:t>Tavily</a:t>
            </a:r>
            <a:r>
              <a:rPr dirty="0"/>
              <a:t> API — 7 regions, real-time web scraping</a:t>
            </a:r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r>
              <a:rPr dirty="0"/>
              <a:t>Datasets          Hugging Face (no Kaggle account needed)</a:t>
            </a:r>
          </a:p>
          <a:p>
            <a:pPr>
              <a:spcAft>
                <a:spcPts val="1000"/>
              </a:spcAft>
              <a:defRPr sz="1800">
                <a:solidFill>
                  <a:srgbClr val="F0F0F5"/>
                </a:solidFill>
              </a:defRPr>
            </a:pPr>
            <a:r>
              <a:rPr dirty="0"/>
              <a:t>                   ds_salaries.csv — 607 rows, 12 columns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30936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88899"/>
                </a:solidFill>
              </a:defRPr>
            </a:pPr>
            <a:r>
              <a:t>Job Market Intelligence  |  Ironhack Final 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1450" y="2797602"/>
            <a:ext cx="2768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/>
              <a:t>Live Demo</a:t>
            </a:r>
            <a:endParaRPr lang="en-US" dirty="0"/>
          </a:p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lang="en-US" sz="9600" dirty="0">
                <a:sym typeface="Wingdings" panose="05000000000000000000" pitchFamily="2" charset="2"/>
              </a:rPr>
              <a:t></a:t>
            </a:r>
            <a:endParaRPr sz="9600"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630936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88899"/>
                </a:solidFill>
              </a:defRPr>
            </a:pPr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6797C3-4910-0A12-8C21-00191D969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679</Words>
  <Application>Microsoft Office PowerPoint</Application>
  <PresentationFormat>Widescreen</PresentationFormat>
  <Paragraphs>88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Octavian L .</cp:lastModifiedBy>
  <cp:revision>5</cp:revision>
  <dcterms:created xsi:type="dcterms:W3CDTF">2013-01-27T09:14:16Z</dcterms:created>
  <dcterms:modified xsi:type="dcterms:W3CDTF">2026-08-05T21:39:32Z</dcterms:modified>
  <cp:category/>
</cp:coreProperties>
</file>